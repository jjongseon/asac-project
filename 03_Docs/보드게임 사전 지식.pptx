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24A729-19FC-4AAD-9253-D84C9DBF5477}">
  <a:tblStyle styleId="{6424A729-19FC-4AAD-9253-D84C9DBF54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5b91d34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b5b91d34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56ef700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56ef700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b5b91d34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b5b91d34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56ef700a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56ef700a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56ef700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56ef700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b5b91d34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b5b91d34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56ef700a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56ef700a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56ef700a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56ef700a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b5b91d34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b5b91d34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56ef700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56ef700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b5b91d34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b5b91d34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b5b91d34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b5b91d34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b5b91d34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b5b91d34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b5b91d34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b5b91d34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5b91d34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b5b91d34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b5b91d34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b5b91d3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040600"/>
            <a:ext cx="85206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펀딩을 하는 수요자와 공급자의 입장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859650" y="385475"/>
            <a:ext cx="7424700" cy="3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참여자 측면: 희소성과 보상 심리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펀딩은 본질적으로 불확실성에 돈을 묶어두는 행위입니다. 소비자가 이 페널티를 감수하는 데는 명확한 유인책이 있습니다.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스트레치 골 (규모의 경제 환원):</a:t>
            </a:r>
            <a:r>
              <a:rPr lang="ko" sz="1100">
                <a:solidFill>
                  <a:schemeClr val="dk1"/>
                </a:solidFill>
              </a:rPr>
              <a:t> 모금액이 특정 구간을 넘을 때마다 종이 토큰이 나무나 플라스틱으로 바뀌고, 카드의 재질이 두꺼워지며, 새로운 확장 콘텐츠가 추가</a:t>
            </a:r>
            <a:r>
              <a:rPr lang="ko" sz="1100">
                <a:solidFill>
                  <a:schemeClr val="dk1"/>
                </a:solidFill>
              </a:rPr>
              <a:t>됨. 모금액이</a:t>
            </a:r>
            <a:r>
              <a:rPr lang="ko" sz="1100">
                <a:solidFill>
                  <a:schemeClr val="dk1"/>
                </a:solidFill>
              </a:rPr>
              <a:t> 많이 모일수록 1인당 생산 단가가 </a:t>
            </a:r>
            <a:r>
              <a:rPr lang="ko" sz="1100">
                <a:solidFill>
                  <a:schemeClr val="dk1"/>
                </a:solidFill>
              </a:rPr>
              <a:t>낮아져서 규모가 커질 수록 소비자에게 돌아오는 혜택이 많아짐.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리테일 발매의 불확실성:</a:t>
            </a:r>
            <a:r>
              <a:rPr lang="ko" sz="1100">
                <a:solidFill>
                  <a:schemeClr val="dk1"/>
                </a:solidFill>
              </a:rPr>
              <a:t> 『슬레이 더 스파이어』 보드게임처럼 구성물이 방대하고 단가가 10만 원을 훌쩍 넘는 일반 소매점에 아예 유통되지 않는 경우가 많</a:t>
            </a:r>
            <a:r>
              <a:rPr lang="ko" sz="1100">
                <a:solidFill>
                  <a:schemeClr val="dk1"/>
                </a:solidFill>
              </a:rPr>
              <a:t>음.</a:t>
            </a:r>
            <a:r>
              <a:rPr lang="ko" sz="1100">
                <a:solidFill>
                  <a:schemeClr val="dk1"/>
                </a:solidFill>
              </a:rPr>
              <a:t> 매장 입장에서는 악성 재고가 </a:t>
            </a:r>
            <a:r>
              <a:rPr lang="ko" sz="1100">
                <a:solidFill>
                  <a:schemeClr val="dk1"/>
                </a:solidFill>
              </a:rPr>
              <a:t>되기에 펀딩을 통해서만 유통.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펀딩 독점:</a:t>
            </a:r>
            <a:r>
              <a:rPr lang="ko" sz="1100">
                <a:solidFill>
                  <a:schemeClr val="dk1"/>
                </a:solidFill>
              </a:rPr>
              <a:t> 시중 일반 판매본에는 포함되지 않는 '독점 프로모션 카드'나 '한정판 피규어'를 </a:t>
            </a:r>
            <a:r>
              <a:rPr lang="ko" sz="1100">
                <a:solidFill>
                  <a:schemeClr val="dk1"/>
                </a:solidFill>
              </a:rPr>
              <a:t>미끼로 내세움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826050" y="341425"/>
            <a:ext cx="7931400" cy="3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제작자 측면: 하이 리스크의 헷징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보드게임 출판은 생각보다 초기 자본이 많이 들고 재고 부담이 큰 제조업입니다. 펀딩은 이 구조적 한계를 돌파하는 수단입니다.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초기 생산 자본(MOQ) 확보:</a:t>
            </a:r>
            <a:r>
              <a:rPr lang="ko" sz="1100">
                <a:solidFill>
                  <a:schemeClr val="dk1"/>
                </a:solidFill>
              </a:rPr>
              <a:t> 종이 인쇄물, 플라스틱 미니어처, 특수 주사위 등을 생산하려면 공장이 요구하는 '최소 주문 수량(MOQ)'을 맞춰야 합니다. 펀딩은 이 수천만 원에서 수억 원에 달하는 초기 금형비와 생산비를 사전 결제로 충당하게 해줍니다.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악성 재고 리스크 0%:</a:t>
            </a:r>
            <a:r>
              <a:rPr lang="ko" sz="1100">
                <a:solidFill>
                  <a:schemeClr val="dk1"/>
                </a:solidFill>
              </a:rPr>
              <a:t> 수요를 정확히 파악하지 못한 채 물건을 찍어내면 창고 보관료가 발생하고 결국 덤핑으로 이어집니다. 펀딩은 '돈을 낸 사람의 수'만큼만 생산하므로 재고와 보관 비용이 발생하지 않습니다.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유통 마진 극대화:</a:t>
            </a:r>
            <a:r>
              <a:rPr lang="ko" sz="1100">
                <a:solidFill>
                  <a:schemeClr val="dk1"/>
                </a:solidFill>
              </a:rPr>
              <a:t> 도매상과 소매점(보드게임 카페, 마트 등)을 거치지 않고 소비자에게 직배송합니다. 중간 유통 수수료가 빠지기 때문에 제작자의 순이익률이 훨씬 높습니다.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040600"/>
            <a:ext cx="85206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실질 가격의 형성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311400" y="728025"/>
            <a:ext cx="80250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일반 </a:t>
            </a:r>
            <a:r>
              <a:rPr b="1" lang="ko" sz="1800">
                <a:solidFill>
                  <a:schemeClr val="dk1"/>
                </a:solidFill>
              </a:rPr>
              <a:t>소비자 가격(MSRP) 산정: '5배수의 법칙'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- </a:t>
            </a:r>
            <a:r>
              <a:rPr lang="ko" sz="1200">
                <a:solidFill>
                  <a:schemeClr val="dk1"/>
                </a:solidFill>
              </a:rPr>
              <a:t>글로벌 보드게임 업계의 표준 정가(MSRP)는 보통 </a:t>
            </a:r>
            <a:r>
              <a:rPr b="1" lang="ko" sz="1200">
                <a:solidFill>
                  <a:schemeClr val="dk1"/>
                </a:solidFill>
              </a:rPr>
              <a:t>도착 원가의 4~5배</a:t>
            </a:r>
            <a:r>
              <a:rPr lang="ko" sz="1200">
                <a:solidFill>
                  <a:schemeClr val="dk1"/>
                </a:solidFill>
              </a:rPr>
              <a:t>로 책정</a:t>
            </a:r>
            <a:br>
              <a:rPr lang="ko" sz="1200">
                <a:solidFill>
                  <a:schemeClr val="dk1"/>
                </a:solidFill>
              </a:rPr>
            </a:br>
            <a:r>
              <a:rPr lang="ko" sz="1200">
                <a:solidFill>
                  <a:schemeClr val="dk1"/>
                </a:solidFill>
              </a:rPr>
              <a:t>  =&gt; 원가가 1만 원이라면 최종 소비자가는 4~5만원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소매점/총판 마진 (정가의 50~60%):</a:t>
            </a:r>
            <a:r>
              <a:rPr lang="ko" sz="1200">
                <a:solidFill>
                  <a:schemeClr val="dk1"/>
                </a:solidFill>
              </a:rPr>
              <a:t> 보드게임 카페나 마트는 정가의 약 40~50% 가격에 물건</a:t>
            </a:r>
            <a:r>
              <a:rPr lang="ko" sz="1200">
                <a:solidFill>
                  <a:schemeClr val="dk1"/>
                </a:solidFill>
              </a:rPr>
              <a:t>을 납입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제작사 운영비 및 재고 부담비 (정가의 10~20%):</a:t>
            </a:r>
            <a:r>
              <a:rPr lang="ko" sz="1200">
                <a:solidFill>
                  <a:schemeClr val="dk1"/>
                </a:solidFill>
              </a:rPr>
              <a:t> 보관료 및 악성 재고 리스크 비용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원가 (정가의 20~25%):</a:t>
            </a:r>
            <a:r>
              <a:rPr lang="ko" sz="1200">
                <a:solidFill>
                  <a:schemeClr val="dk1"/>
                </a:solidFill>
              </a:rPr>
              <a:t> 실제 물건을 만드는 데 들어간 도착 원가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제작사 순이익 (정가의 10~15%):</a:t>
            </a:r>
            <a:r>
              <a:rPr lang="ko" sz="1200">
                <a:solidFill>
                  <a:schemeClr val="dk1"/>
                </a:solidFill>
              </a:rPr>
              <a:t> 모든 유통 수수료를 떼고 남는 실제 마진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476250" y="450475"/>
            <a:ext cx="8354700" cy="4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펀딩 가격의 산정: 유통망 우회 (D2C)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- </a:t>
            </a:r>
            <a:r>
              <a:rPr lang="ko" sz="1200">
                <a:solidFill>
                  <a:schemeClr val="dk1"/>
                </a:solidFill>
              </a:rPr>
              <a:t>펀딩은 소매점을 거치지 않고 소비자와 직거래하는 D2C(Direct to Consumer) 모델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=&gt; 보통 펀딩가는 </a:t>
            </a:r>
            <a:r>
              <a:rPr b="1" lang="ko" sz="1200">
                <a:solidFill>
                  <a:schemeClr val="dk1"/>
                </a:solidFill>
              </a:rPr>
              <a:t>도착 원가의 3~4배수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참여자 이득:</a:t>
            </a:r>
            <a:r>
              <a:rPr lang="ko" sz="1200">
                <a:solidFill>
                  <a:schemeClr val="dk1"/>
                </a:solidFill>
              </a:rPr>
              <a:t> 최종 정가 대비 20~30% 할인된 가격에 구매.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제작자 이득:</a:t>
            </a:r>
            <a:r>
              <a:rPr lang="ko" sz="1200">
                <a:solidFill>
                  <a:schemeClr val="dk1"/>
                </a:solidFill>
              </a:rPr>
              <a:t> 소매점에 도매가(정가의 40%)로 넘기는 것보다, 펀딩가(정가의 70~80%)로 직접 파는 것이 개당 순이익이 훨씬 높음. 동시에 펀딩 플랫폼 수수료(약 8~10%)를 제외하더라도 마진 방어가 가능합니다.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2040600"/>
            <a:ext cx="85206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실제 목표 금액과 달성율의 관계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290443"/>
            <a:ext cx="9144000" cy="3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목표 금액의 논리적 오류: 실질 BEP vs 마케팅 목표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- </a:t>
            </a:r>
            <a:r>
              <a:rPr lang="ko" sz="1200">
                <a:solidFill>
                  <a:schemeClr val="dk1"/>
                </a:solidFill>
              </a:rPr>
              <a:t>펀딩 페이지에 명시된 '목표 금액'은 사실상 팩트 데이터가 아니라 </a:t>
            </a:r>
            <a:r>
              <a:rPr b="1" lang="ko" sz="1200">
                <a:solidFill>
                  <a:schemeClr val="dk1"/>
                </a:solidFill>
              </a:rPr>
              <a:t>마케팅을 위해 계산된 허수</a:t>
            </a:r>
            <a:r>
              <a:rPr lang="ko" sz="1200">
                <a:solidFill>
                  <a:schemeClr val="dk1"/>
                </a:solidFill>
              </a:rPr>
              <a:t>에 가깝습니다. 실질적인 손익분기점(BEP)과 표면적 목표액에는 큰 괴리가 있습니다.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실제 손익분기점</a:t>
            </a:r>
            <a:br>
              <a:rPr lang="ko" sz="1200">
                <a:solidFill>
                  <a:schemeClr val="dk1"/>
                </a:solidFill>
              </a:rPr>
            </a:br>
            <a:r>
              <a:rPr lang="ko" sz="1200">
                <a:solidFill>
                  <a:schemeClr val="dk1"/>
                </a:solidFill>
              </a:rPr>
              <a:t>=&gt; </a:t>
            </a:r>
            <a:r>
              <a:rPr lang="ko" sz="1200">
                <a:solidFill>
                  <a:schemeClr val="dk1"/>
                </a:solidFill>
              </a:rPr>
              <a:t>공장이 요구하는 최소 주문 수량(MOQ, 보통 1,000~1,500개)을 맞춰야 생산 라인이 가동 </a:t>
            </a:r>
            <a:br>
              <a:rPr lang="ko" sz="1200">
                <a:solidFill>
                  <a:schemeClr val="dk1"/>
                </a:solidFill>
              </a:rPr>
            </a:br>
            <a:r>
              <a:rPr lang="ko" sz="1200">
                <a:solidFill>
                  <a:schemeClr val="dk1"/>
                </a:solidFill>
              </a:rPr>
              <a:t>=&gt; 제조 단가가 2만 원이라면 최소 2,000~3,000만 원이 보장되어야 실제 생산이 가능합니다.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표면적 펀딩 목표액:</a:t>
            </a:r>
            <a:r>
              <a:rPr lang="ko" sz="1200">
                <a:solidFill>
                  <a:schemeClr val="dk1"/>
                </a:solidFill>
              </a:rPr>
              <a:t> 하지만 대부분의 프로젝트는 목표액을 300~500만 원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왜 목표 금액을 비상식적으로 낮게 잡는가?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ko" sz="1200">
                <a:solidFill>
                  <a:schemeClr val="dk1"/>
                </a:solidFill>
              </a:rPr>
              <a:t>알고리즘 노출 및 밴드웨건 효과: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 u="sng">
                <a:solidFill>
                  <a:schemeClr val="dk1"/>
                </a:solidFill>
              </a:rPr>
              <a:t>'오픈 10분 만에 100% 달성!', '목표액 1,000% 초과 달성'이라는 타이틀</a:t>
            </a:r>
            <a:r>
              <a:rPr lang="ko" sz="1200">
                <a:solidFill>
                  <a:schemeClr val="dk1"/>
                </a:solidFill>
              </a:rPr>
              <a:t>을 얻어야 플랫폼 내 메인 페이지에 노출되고, 흥행작이라는 인식을 주어 후속 참여자의 FOMO(소외 불안)를 자극할 수 있습니다.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ko" sz="1200">
                <a:solidFill>
                  <a:schemeClr val="dk1"/>
                </a:solidFill>
              </a:rPr>
              <a:t>진짜 목표는 '스트레치 골'의 끝단:</a:t>
            </a:r>
            <a:r>
              <a:rPr lang="ko" sz="1200">
                <a:solidFill>
                  <a:schemeClr val="dk1"/>
                </a:solidFill>
              </a:rPr>
              <a:t> 제작자가 실제로 계산해 둔 진짜 </a:t>
            </a:r>
            <a:r>
              <a:rPr lang="ko" sz="1200" u="sng">
                <a:solidFill>
                  <a:schemeClr val="dk1"/>
                </a:solidFill>
              </a:rPr>
              <a:t>마지노선과 이익 구간은 달성률 500%, 1,000%에 도달</a:t>
            </a:r>
            <a:r>
              <a:rPr lang="ko" sz="1200">
                <a:solidFill>
                  <a:schemeClr val="dk1"/>
                </a:solidFill>
              </a:rPr>
              <a:t>했을 때 열리는 추가 보상(스트레치 골) 단계에 숨어 있습니다.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358900"/>
            <a:ext cx="9144000" cy="4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펀딩 가격의 산정: 유통망 우회 (D2C)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- 펀딩은 소매점을 거치지 않고 소비자와 직거래하는 D2C(Direct to Consumer) 모델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=&gt; 보통 펀딩가는 </a:t>
            </a:r>
            <a:r>
              <a:rPr b="1" lang="ko" sz="1200">
                <a:solidFill>
                  <a:schemeClr val="dk1"/>
                </a:solidFill>
              </a:rPr>
              <a:t>도착 원가의 3~4배수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참여자 이득:</a:t>
            </a:r>
            <a:r>
              <a:rPr lang="ko" sz="1200">
                <a:solidFill>
                  <a:schemeClr val="dk1"/>
                </a:solidFill>
              </a:rPr>
              <a:t> 최종 정가 대비 20~30% 할인된 가격에 구매.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제작자 이득:</a:t>
            </a:r>
            <a:r>
              <a:rPr lang="ko" sz="1200">
                <a:solidFill>
                  <a:schemeClr val="dk1"/>
                </a:solidFill>
              </a:rPr>
              <a:t> 소매점에 도매가(정가의 40%)로 넘기는 것보다, 펀딩가(정가의 70~80%)로 직접 파는 것이 개당 순이익이 훨씬 높음. 동시에 펀딩 플랫폼 수수료(약 8~10%)를 제외하더라도 마진 방어가 가능합니다.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311700" y="2040600"/>
            <a:ext cx="85206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달성율의 Y변수 설정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655500" y="411000"/>
            <a:ext cx="7833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펀딩 플랫폼의 '목표 금액'은 실제 제조 원가(MOQ)가 아니라 마케팅을 위해 의도적으로 낮게 설정된 허수(Manipulated Variable)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분모(목표 금액)가 제작자의 마케팅 전략에 따라 100만 원부터 5,000만 원까지 임의로 조작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Y값(달성률)은 종속 변수로서의 통계적 신뢰도가 매우 떨어</a:t>
            </a:r>
            <a:r>
              <a:rPr lang="ko"/>
              <a:t>짐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따라서! </a:t>
            </a:r>
            <a:r>
              <a:rPr lang="ko"/>
              <a:t> 모델의 예측 정확도를 높이려면 타겟 변수(Y)를 '최종 모금액(Total Pledged)'이나 '총 후원자 수(Total Backers)'의 </a:t>
            </a:r>
            <a:r>
              <a:rPr lang="ko"/>
              <a:t>절대값으로 두는게 나을 수 있음.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4"/>
          <p:cNvGraphicFramePr/>
          <p:nvPr/>
        </p:nvGraphicFramePr>
        <p:xfrm>
          <a:off x="185725" y="106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{6424A729-19FC-4AAD-9253-D84C9DBF5477}</a:tableStyleId>
              </a:tblPr>
              <a:tblGrid>
                <a:gridCol w="657225"/>
                <a:gridCol w="1628775"/>
                <a:gridCol w="4257675"/>
                <a:gridCol w="2228850"/>
              </a:tblGrid>
              <a:tr h="54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1F1F"/>
                          </a:solidFill>
                        </a:rPr>
                        <a:t>분류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1F1F"/>
                          </a:solidFill>
                        </a:rPr>
                        <a:t>비용 항목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1F1F"/>
                          </a:solidFill>
                        </a:rPr>
                        <a:t>설명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1F1F"/>
                          </a:solidFill>
                        </a:rPr>
                        <a:t>비중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81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1F1F"/>
                          </a:solidFill>
                        </a:rPr>
                        <a:t>고정비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아트워크 및 디자인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일러스트, UI/UX 디자인, 룰북 레이아웃 작업비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중~상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마케팅 및 금형비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사전 리뷰 영상 제작, 광고비, 미니어처(피규어) 강철 금형비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상 (피규어 유무에 따라 편차 큼)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1F1F"/>
                          </a:solidFill>
                        </a:rPr>
                        <a:t>변동비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순수 제조비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종이, 타일 두께, 플라스틱 토큰 등 공장 인쇄/제작 단가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최상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해상 운송비 (Freight)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중국(주로 심천) 등의 공장에서 국내 창고까지의 컨테이너 운송비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1F1F1F"/>
                          </a:solidFill>
                        </a:rPr>
                        <a:t>상 (부피/무게에 직결)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" name="Google Shape;110;p24"/>
          <p:cNvSpPr txBox="1"/>
          <p:nvPr/>
        </p:nvSpPr>
        <p:spPr>
          <a:xfrm>
            <a:off x="267267" y="130600"/>
            <a:ext cx="82692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제작 비용 산정(참고 정도만..)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24"/>
          <p:cNvSpPr txBox="1"/>
          <p:nvPr/>
        </p:nvSpPr>
        <p:spPr>
          <a:xfrm>
            <a:off x="267275" y="4743300"/>
            <a:ext cx="76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도착 원가(Landed Cost) = (총 고정비 / 생산 수량) + 변동비(제조+해상운송)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311700" y="2040600"/>
            <a:ext cx="85206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달성율의 X변수 설정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/>
        </p:nvSpPr>
        <p:spPr>
          <a:xfrm>
            <a:off x="449550" y="628375"/>
            <a:ext cx="82449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</a:rPr>
              <a:t>1. 사전 모멘텀 지표 (Pre-launch &amp; Creator Metrics)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- </a:t>
            </a:r>
            <a:r>
              <a:rPr lang="ko" sz="1300">
                <a:solidFill>
                  <a:schemeClr val="dk1"/>
                </a:solidFill>
              </a:rPr>
              <a:t>펀딩 오픈 첫날의 폭발력을 결정하는 가장 강력한 선행 지표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- 게임파운드는 프로젝트 런칭 전 'Draft(예고)' 페이지를 운영하는 시스템이 매우 잘 되어 있</a:t>
            </a:r>
            <a:r>
              <a:rPr lang="ko" sz="1300">
                <a:solidFill>
                  <a:schemeClr val="dk1"/>
                </a:solidFill>
              </a:rPr>
              <a:t>음.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런칭 전 팔로워 수 (Pre-launch Followers):</a:t>
            </a:r>
            <a:r>
              <a:rPr lang="ko" sz="1300">
                <a:solidFill>
                  <a:schemeClr val="dk1"/>
                </a:solidFill>
              </a:rPr>
              <a:t> 오픈 전 알림 신청을 한 유저 수</a:t>
            </a:r>
            <a:br>
              <a:rPr lang="ko" sz="1300">
                <a:solidFill>
                  <a:schemeClr val="dk1"/>
                </a:solidFill>
              </a:rPr>
            </a:br>
            <a:r>
              <a:rPr lang="ko" sz="1300">
                <a:solidFill>
                  <a:schemeClr val="dk1"/>
                </a:solidFill>
              </a:rPr>
              <a:t>(이 수치가 높을수록 초기 24시간 내 달성률이 급증하며 플랫폼 알고리즘의 선택(Hot List)을 받기 유</a:t>
            </a:r>
            <a:r>
              <a:rPr lang="ko" sz="1300">
                <a:solidFill>
                  <a:schemeClr val="dk1"/>
                </a:solidFill>
              </a:rPr>
              <a:t>리</a:t>
            </a:r>
            <a:r>
              <a:rPr lang="ko" sz="1300">
                <a:solidFill>
                  <a:schemeClr val="dk1"/>
                </a:solidFill>
              </a:rPr>
              <a:t>)</a:t>
            </a:r>
            <a:br>
              <a:rPr lang="k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제작사의 누적 게임파운드 프로젝트 수:</a:t>
            </a:r>
            <a:r>
              <a:rPr lang="ko" sz="1300">
                <a:solidFill>
                  <a:schemeClr val="dk1"/>
                </a:solidFill>
              </a:rPr>
              <a:t> 플랫폼 내에서의 신뢰도 지표입니다.</a:t>
            </a:r>
            <a:br>
              <a:rPr lang="k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제작사 국가 (Creator Country):</a:t>
            </a:r>
            <a:r>
              <a:rPr lang="ko" sz="1300">
                <a:solidFill>
                  <a:schemeClr val="dk1"/>
                </a:solidFill>
              </a:rPr>
              <a:t> 미국, 폴란드, 영국 등 주요 보드게임 퍼블리셔 소재지 여부가 배송비에 대한 심리적 저항선을 결정(범주형 변수, One-Hot Encoding 필요)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/>
        </p:nvSpPr>
        <p:spPr>
          <a:xfrm>
            <a:off x="344700" y="238100"/>
            <a:ext cx="84546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</a:rPr>
              <a:t>2. 가격 및 결제 아키텍처 (Pricing &amp; Payment Structure)</a:t>
            </a:r>
            <a:endParaRPr b="1" sz="1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진입 가격 (Base Pledge Price)과 최고가 (All-in Pledge Price)의 격차:</a:t>
            </a:r>
            <a:r>
              <a:rPr lang="ko" sz="1300">
                <a:solidFill>
                  <a:schemeClr val="dk1"/>
                </a:solidFill>
              </a:rPr>
              <a:t> 이 스펙트럼이 넓을수록, 최상위 패키지로 유도(Up-selling)하는 마케팅이 치밀하게 설계된 프로젝트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Stretch Pay 지원 여부 (이진 변수 0/1):</a:t>
            </a:r>
            <a:r>
              <a:rPr lang="ko" sz="1300">
                <a:solidFill>
                  <a:schemeClr val="dk1"/>
                </a:solidFill>
              </a:rPr>
              <a:t> 게임파운드만의 강력한 무기인 </a:t>
            </a:r>
            <a:r>
              <a:rPr b="1" lang="ko" sz="1300">
                <a:solidFill>
                  <a:schemeClr val="dk1"/>
                </a:solidFill>
              </a:rPr>
              <a:t>'무이자 분할 결제'</a:t>
            </a:r>
            <a:r>
              <a:rPr lang="ko" sz="1300">
                <a:solidFill>
                  <a:schemeClr val="dk1"/>
                </a:solidFill>
              </a:rPr>
              <a:t> 시스템입니다. 20만 원이 넘는 고가 프로젝트에서 이 옵션이 켜져 있으면, 가격 저항선이 무너져 후원자 수와 모금액이 유의미하게 상승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애드온(Add-on) 아이템 개수:</a:t>
            </a:r>
            <a:r>
              <a:rPr lang="ko" sz="1300">
                <a:solidFill>
                  <a:schemeClr val="dk1"/>
                </a:solidFill>
              </a:rPr>
              <a:t> 주사위 트레이, 프리미엄 슬리브, 메탈 코인 등 본판 외에 추가로 장바구니에 담을 수 있는 옵션의 수입니다.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/>
        </p:nvSpPr>
        <p:spPr>
          <a:xfrm>
            <a:off x="0" y="344050"/>
            <a:ext cx="9144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3. FOMO 유발 및 구성물 지표 (Content &amp; Exclusivity)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Gamefound Exclusive 배지 개수:</a:t>
            </a:r>
            <a:r>
              <a:rPr lang="ko" sz="1100">
                <a:solidFill>
                  <a:schemeClr val="dk1"/>
                </a:solidFill>
              </a:rPr>
              <a:t> 시중 소매점에서는 풀리지 않는 '펀딩 독점' 마크가 붙은 구성물의 개수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(이는 모델에서 전환율(Conversion)을 설명하는 핵심 변수)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스트레치 골 (Stretch Goals) 방식: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ko" sz="1100">
                <a:solidFill>
                  <a:schemeClr val="dk1"/>
                </a:solidFill>
              </a:rPr>
              <a:t>총 잠금 해제된 스트레치 골 개수</a:t>
            </a:r>
            <a:endParaRPr i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ko" sz="1100">
                <a:solidFill>
                  <a:schemeClr val="dk1"/>
                </a:solidFill>
              </a:rPr>
              <a:t>Daily Unlocks 여부 (0/1):</a:t>
            </a:r>
            <a:r>
              <a:rPr lang="ko" sz="1100">
                <a:solidFill>
                  <a:schemeClr val="dk1"/>
                </a:solidFill>
              </a:rPr>
              <a:t> 모금액 기반이 아니라 '매일 하나씩' 보상을 공개하는 방식인지 여부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(이는 후원자들의 지속적인 페이지 재방문(Traffic)을 유도)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플라스틱 경제 지표 (미니어처 유무):</a:t>
            </a:r>
            <a:r>
              <a:rPr lang="ko" sz="1100">
                <a:solidFill>
                  <a:schemeClr val="dk1"/>
                </a:solidFill>
              </a:rPr>
              <a:t> 피규어가 메인인 게임인지(예: Awaken Realms 사의 게임들) 유로(Euro) 스타일의 나무 토큰 중심 게임인지에 따라 모금액의 단위(Scale) 자체가 달라집니다.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/>
        </p:nvSpPr>
        <p:spPr>
          <a:xfrm>
            <a:off x="161400" y="835100"/>
            <a:ext cx="89826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</a:rPr>
              <a:t>4. 커뮤니티 인게이지먼트 (Engagement Metrics)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- </a:t>
            </a:r>
            <a:r>
              <a:rPr lang="ko" sz="1300">
                <a:solidFill>
                  <a:schemeClr val="dk1"/>
                </a:solidFill>
              </a:rPr>
              <a:t>펀딩 진행 중 발생하는 동적(Dynamic) 데이터로, 후반부 뒷심을 결정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- 시계열 분석을 한다면 필수적인 파생 변수입니다.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업데이트(Updates) 게시글 수:</a:t>
            </a:r>
            <a:r>
              <a:rPr lang="ko" sz="1300">
                <a:solidFill>
                  <a:schemeClr val="dk1"/>
                </a:solidFill>
              </a:rPr>
              <a:t> 제작자가 펀딩 기간 동안 얼마나 성실하게 개발 현황이나 이벤트를 공유했는지 나타</a:t>
            </a:r>
            <a:r>
              <a:rPr lang="ko" sz="1300">
                <a:solidFill>
                  <a:schemeClr val="dk1"/>
                </a:solidFill>
              </a:rPr>
              <a:t>냄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댓글(Comments) 수:</a:t>
            </a:r>
            <a:r>
              <a:rPr lang="ko" sz="1300">
                <a:solidFill>
                  <a:schemeClr val="dk1"/>
                </a:solidFill>
              </a:rPr>
              <a:t> 팬덤의 활성도이자 활성 유저(DAU)를 대변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ko" sz="1300">
                <a:solidFill>
                  <a:schemeClr val="dk1"/>
                </a:solidFill>
              </a:rPr>
              <a:t>언어 지원(Language Options) 수:</a:t>
            </a:r>
            <a:r>
              <a:rPr lang="ko" sz="1300">
                <a:solidFill>
                  <a:schemeClr val="dk1"/>
                </a:solidFill>
              </a:rPr>
              <a:t> 영어 외에 프랑스어, 독일어, 스페인어 등 다국어판 동시 펀딩을 진행하는지 여부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